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53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8/18/2026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18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18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18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8/18/2026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18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483192566"/>
              </p:ext>
            </p:extLst>
          </p:nvPr>
        </p:nvGraphicFramePr>
        <p:xfrm>
          <a:off x="8219326" y="4898509"/>
          <a:ext cx="3675995" cy="1188720"/>
        </p:xfrm>
        <a:graphic>
          <a:graphicData uri="http://schemas.openxmlformats.org/drawingml/2006/table">
            <a:tbl>
              <a:tblPr firstRow="1" bandRow="1">
                <a:tableStyleId>{5940675A-B579-460E-94D1-54222C63F5DA}</a:tableStyleId>
              </a:tblPr>
              <a:tblGrid>
                <a:gridCol w="3675995">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r>
                        <a:rPr lang="en-IN" sz="1400" dirty="0">
                          <a:solidFill>
                            <a:schemeClr val="tx1">
                              <a:lumMod val="95000"/>
                              <a:lumOff val="5000"/>
                            </a:schemeClr>
                          </a:solidFill>
                        </a:rPr>
                        <a:t>2420030394  - </a:t>
                      </a:r>
                      <a:r>
                        <a:rPr lang="en-IN" sz="1400" dirty="0" err="1">
                          <a:solidFill>
                            <a:schemeClr val="tx1">
                              <a:lumMod val="95000"/>
                              <a:lumOff val="5000"/>
                            </a:schemeClr>
                          </a:solidFill>
                        </a:rPr>
                        <a:t>K.Bhavya</a:t>
                      </a:r>
                      <a:endParaRPr lang="en-IN" sz="1400" dirty="0">
                        <a:solidFill>
                          <a:schemeClr val="tx1">
                            <a:lumMod val="95000"/>
                            <a:lumOff val="5000"/>
                          </a:schemeClr>
                        </a:solidFill>
                      </a:endParaRPr>
                    </a:p>
                    <a:p>
                      <a:r>
                        <a:rPr lang="en-IN" sz="1400" dirty="0">
                          <a:solidFill>
                            <a:schemeClr val="tx1">
                              <a:lumMod val="95000"/>
                              <a:lumOff val="5000"/>
                            </a:schemeClr>
                          </a:solidFill>
                        </a:rPr>
                        <a:t> 2420090110 - </a:t>
                      </a:r>
                      <a:r>
                        <a:rPr lang="en-IN" sz="1400" dirty="0" err="1">
                          <a:solidFill>
                            <a:schemeClr val="tx1">
                              <a:lumMod val="95000"/>
                              <a:lumOff val="5000"/>
                            </a:schemeClr>
                          </a:solidFill>
                        </a:rPr>
                        <a:t>M.Pranavi</a:t>
                      </a:r>
                      <a:endParaRPr lang="en-IN" sz="1400" dirty="0">
                        <a:solidFill>
                          <a:schemeClr val="tx1">
                            <a:lumMod val="95000"/>
                            <a:lumOff val="5000"/>
                          </a:schemeClr>
                        </a:solidFill>
                      </a:endParaRPr>
                    </a:p>
                    <a:p>
                      <a:r>
                        <a:rPr lang="en-IN" sz="1400" dirty="0">
                          <a:solidFill>
                            <a:schemeClr val="tx1">
                              <a:lumMod val="95000"/>
                              <a:lumOff val="5000"/>
                            </a:schemeClr>
                          </a:solidFill>
                        </a:rPr>
                        <a:t>2420090067 - </a:t>
                      </a:r>
                      <a:r>
                        <a:rPr lang="en-IN" sz="1400" dirty="0" err="1">
                          <a:solidFill>
                            <a:schemeClr val="tx1">
                              <a:lumMod val="95000"/>
                              <a:lumOff val="5000"/>
                            </a:schemeClr>
                          </a:solidFill>
                        </a:rPr>
                        <a:t>S.Saswitha</a:t>
                      </a:r>
                      <a:endParaRPr lang="en-IN" sz="1400" dirty="0">
                        <a:solidFill>
                          <a:schemeClr val="tx1">
                            <a:lumMod val="95000"/>
                            <a:lumOff val="5000"/>
                          </a:schemeClr>
                        </a:solidFill>
                      </a:endParaRPr>
                    </a:p>
                    <a:p>
                      <a:pPr marL="0" algn="l" defTabSz="914400" rtl="0" eaLnBrk="1" latinLnBrk="0" hangingPunct="1"/>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54314848"/>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K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Venkateswari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FindEase – Intelligent Lost &amp; Found Portal</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048000" y="622550"/>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34261" y="2085140"/>
            <a:ext cx="10698480" cy="2959785"/>
          </a:xfrm>
          <a:prstGeom prst="rect">
            <a:avLst/>
          </a:prstGeom>
          <a:noFill/>
        </p:spPr>
        <p:txBody>
          <a:bodyPr wrap="square">
            <a:spAutoFit/>
          </a:bodyPr>
          <a:lstStyle/>
          <a:p>
            <a:pPr marL="342900" indent="-342900">
              <a:spcBef>
                <a:spcPts val="0"/>
              </a:spcBef>
              <a:spcAft>
                <a:spcPts val="200"/>
              </a:spcAft>
              <a:buFont typeface="Wingdings" panose="05000000000000000000" pitchFamily="2" charset="2"/>
              <a:buChar char="q"/>
            </a:pPr>
            <a:r>
              <a:rPr sz="2000" b="1" dirty="0">
                <a:solidFill>
                  <a:srgbClr val="C00000"/>
                </a:solidFill>
                <a:latin typeface="Times New Roman"/>
              </a:rPr>
              <a:t>Human Search Fatigue</a:t>
            </a:r>
          </a:p>
          <a:p>
            <a:pPr marL="285750" indent="-285750">
              <a:spcAft>
                <a:spcPts val="1000"/>
              </a:spcAft>
              <a:buFont typeface="Wingdings" panose="05000000000000000000" pitchFamily="2" charset="2"/>
              <a:buChar char="q"/>
            </a:pPr>
            <a:r>
              <a:rPr sz="1700" b="0" dirty="0">
                <a:solidFill>
                  <a:srgbClr val="1A1A1A"/>
                </a:solidFill>
                <a:latin typeface="Times New Roman"/>
              </a:rPr>
              <a:t>Owners must manually scroll through long, static listings with no smart matching to find their item.</a:t>
            </a:r>
          </a:p>
          <a:p>
            <a:pPr marL="342900" indent="-342900">
              <a:spcBef>
                <a:spcPts val="1000"/>
              </a:spcBef>
              <a:spcAft>
                <a:spcPts val="200"/>
              </a:spcAft>
              <a:buFont typeface="Wingdings" panose="05000000000000000000" pitchFamily="2" charset="2"/>
              <a:buChar char="q"/>
            </a:pPr>
            <a:r>
              <a:rPr sz="2000" b="1" dirty="0">
                <a:solidFill>
                  <a:srgbClr val="C00000"/>
                </a:solidFill>
                <a:latin typeface="Times New Roman"/>
              </a:rPr>
              <a:t>Fraudulent Claims</a:t>
            </a:r>
          </a:p>
          <a:p>
            <a:pPr marL="285750" indent="-285750">
              <a:spcAft>
                <a:spcPts val="1000"/>
              </a:spcAft>
              <a:buFont typeface="Wingdings" panose="05000000000000000000" pitchFamily="2" charset="2"/>
              <a:buChar char="q"/>
            </a:pPr>
            <a:r>
              <a:rPr sz="1700" b="0" dirty="0">
                <a:solidFill>
                  <a:srgbClr val="1A1A1A"/>
                </a:solidFill>
                <a:latin typeface="Times New Roman"/>
              </a:rPr>
              <a:t>Publicly visible photos let unauthorized users impersonate the true owner and claim items easily.</a:t>
            </a:r>
          </a:p>
          <a:p>
            <a:pPr marL="342900" indent="-342900">
              <a:spcBef>
                <a:spcPts val="1000"/>
              </a:spcBef>
              <a:spcAft>
                <a:spcPts val="200"/>
              </a:spcAft>
              <a:buFont typeface="Wingdings" panose="05000000000000000000" pitchFamily="2" charset="2"/>
              <a:buChar char="q"/>
            </a:pPr>
            <a:r>
              <a:rPr sz="2000" b="1" dirty="0">
                <a:solidFill>
                  <a:srgbClr val="C00000"/>
                </a:solidFill>
                <a:latin typeface="Times New Roman"/>
              </a:rPr>
              <a:t>No Proactive Alerts</a:t>
            </a:r>
          </a:p>
          <a:p>
            <a:pPr marL="285750" indent="-285750">
              <a:spcAft>
                <a:spcPts val="600"/>
              </a:spcAft>
              <a:buFont typeface="Wingdings" panose="05000000000000000000" pitchFamily="2" charset="2"/>
              <a:buChar char="q"/>
            </a:pPr>
            <a:r>
              <a:rPr sz="1700" b="0" dirty="0">
                <a:solidFill>
                  <a:srgbClr val="1A1A1A"/>
                </a:solidFill>
                <a:latin typeface="Times New Roman"/>
              </a:rPr>
              <a:t>Owners get no notification when a match appears — the burden of discovery falls entirely on them.</a:t>
            </a:r>
          </a:p>
          <a:p>
            <a:pPr marL="285750" indent="-285750">
              <a:spcAft>
                <a:spcPts val="1000"/>
              </a:spcAft>
              <a:buFont typeface="Wingdings" panose="05000000000000000000" pitchFamily="2" charset="2"/>
              <a:buChar char="q"/>
            </a:pPr>
            <a:r>
              <a:rPr sz="1600" b="0" dirty="0">
                <a:solidFill>
                  <a:srgbClr val="1A1A1A"/>
                </a:solidFill>
                <a:latin typeface="Times New Roman"/>
              </a:rPr>
              <a:t>In high-density campus environments, thousands of items pass through every semester. Old-style listings and public photos simply can't keep up.</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31520" y="1371600"/>
            <a:ext cx="10698480" cy="4846320"/>
          </a:xfrm>
          <a:prstGeom prst="rect">
            <a:avLst/>
          </a:prstGeom>
          <a:noFill/>
        </p:spPr>
        <p:txBody>
          <a:bodyPr wrap="square">
            <a:spAutoFit/>
          </a:bodyPr>
          <a:lstStyle/>
          <a:p>
            <a:pPr>
              <a:spcBef>
                <a:spcPts val="0"/>
              </a:spcBef>
              <a:spcAft>
                <a:spcPts val="200"/>
              </a:spcAft>
            </a:pPr>
            <a:r>
              <a:rPr sz="2000" b="1">
                <a:solidFill>
                  <a:srgbClr val="C00000"/>
                </a:solidFill>
                <a:latin typeface="Times New Roman"/>
              </a:rPr>
              <a:t>1. Smart Item Matching</a:t>
            </a:r>
          </a:p>
          <a:p>
            <a:pPr>
              <a:spcAft>
                <a:spcPts val="1000"/>
              </a:spcAft>
            </a:pPr>
            <a:r>
              <a:rPr sz="1700" b="0">
                <a:solidFill>
                  <a:srgbClr val="1A1A1A"/>
                </a:solidFill>
                <a:latin typeface="Times New Roman"/>
              </a:rPr>
              <a:t>Automatically matches lost and found items by comparing photos, descriptions, and location.</a:t>
            </a:r>
          </a:p>
          <a:p>
            <a:pPr>
              <a:spcBef>
                <a:spcPts val="1000"/>
              </a:spcBef>
              <a:spcAft>
                <a:spcPts val="200"/>
              </a:spcAft>
            </a:pPr>
            <a:r>
              <a:rPr sz="2000" b="1">
                <a:solidFill>
                  <a:srgbClr val="C00000"/>
                </a:solidFill>
                <a:latin typeface="Times New Roman"/>
              </a:rPr>
              <a:t>2. Private Ownership Check</a:t>
            </a:r>
          </a:p>
          <a:p>
            <a:pPr>
              <a:spcAft>
                <a:spcPts val="1000"/>
              </a:spcAft>
            </a:pPr>
            <a:r>
              <a:rPr sz="1700" b="0">
                <a:solidFill>
                  <a:srgbClr val="1A1A1A"/>
                </a:solidFill>
                <a:latin typeface="Times New Roman"/>
              </a:rPr>
              <a:t>Secret details about an item stay hidden from the public and are used to ask the real owner special questions.</a:t>
            </a:r>
          </a:p>
          <a:p>
            <a:pPr>
              <a:spcBef>
                <a:spcPts val="1000"/>
              </a:spcBef>
              <a:spcAft>
                <a:spcPts val="200"/>
              </a:spcAft>
            </a:pPr>
            <a:r>
              <a:rPr sz="2000" b="1">
                <a:solidFill>
                  <a:srgbClr val="C00000"/>
                </a:solidFill>
                <a:latin typeface="Times New Roman"/>
              </a:rPr>
              <a:t>3. Instant Alerts</a:t>
            </a:r>
          </a:p>
          <a:p>
            <a:pPr>
              <a:spcAft>
                <a:spcPts val="1000"/>
              </a:spcAft>
            </a:pPr>
            <a:r>
              <a:rPr sz="1700" b="0">
                <a:solidFill>
                  <a:srgbClr val="1A1A1A"/>
                </a:solidFill>
                <a:latin typeface="Times New Roman"/>
              </a:rPr>
              <a:t>No manual searching — owners get notified the moment a possible match is found.</a:t>
            </a:r>
          </a:p>
          <a:p>
            <a:pPr>
              <a:spcBef>
                <a:spcPts val="1000"/>
              </a:spcBef>
              <a:spcAft>
                <a:spcPts val="200"/>
              </a:spcAft>
            </a:pPr>
            <a:r>
              <a:rPr sz="2000" b="1">
                <a:solidFill>
                  <a:srgbClr val="C00000"/>
                </a:solidFill>
                <a:latin typeface="Times New Roman"/>
              </a:rPr>
              <a:t>4. Step-by-Step Verification</a:t>
            </a:r>
          </a:p>
          <a:p>
            <a:pPr>
              <a:spcAft>
                <a:spcPts val="1000"/>
              </a:spcAft>
            </a:pPr>
            <a:r>
              <a:rPr sz="1700" b="0">
                <a:solidFill>
                  <a:srgbClr val="1A1A1A"/>
                </a:solidFill>
                <a:latin typeface="Times New Roman"/>
              </a:rPr>
              <a:t>A simple 4-step process: match found → claim started → claim checked by AI → claim confirmed and handed over.</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r>
                        <a:rPr sz="1200">
                          <a:latin typeface="Times New Roman"/>
                        </a:rPr>
                        <a:t>Zhou et al. (2024)</a:t>
                      </a:r>
                    </a:p>
                  </a:txBody>
                  <a:tcPr/>
                </a:tc>
                <a:tc>
                  <a:txBody>
                    <a:bodyPr/>
                    <a:lstStyle/>
                    <a:p>
                      <a:r>
                        <a:rPr sz="1200">
                          <a:latin typeface="Times New Roman"/>
                        </a:rPr>
                        <a:t>LostNet: A Smart Way for Lost and Find</a:t>
                      </a:r>
                    </a:p>
                  </a:txBody>
                  <a:tcPr/>
                </a:tc>
                <a:tc>
                  <a:txBody>
                    <a:bodyPr/>
                    <a:lstStyle/>
                    <a:p>
                      <a:r>
                        <a:rPr sz="1200">
                          <a:latin typeface="Times New Roman"/>
                        </a:rPr>
                        <a:t>Combines MobileNetV2 with a CBAM attention module and perceptual hashing to match photos of lost items; backend built on Spring Boot.</a:t>
                      </a:r>
                    </a:p>
                  </a:txBody>
                  <a:tcPr/>
                </a:tc>
                <a:tc>
                  <a:txBody>
                    <a:bodyPr/>
                    <a:lstStyle/>
                    <a:p>
                      <a:r>
                        <a:rPr sz="1200">
                          <a:latin typeface="Times New Roman"/>
                        </a:rPr>
                        <a:t>Reached 96.8% matching accuracy while staying lightweight enough (0.67 GFLOPs) to run on ordinary hardware in real time.</a:t>
                      </a:r>
                    </a:p>
                  </a:txBody>
                  <a:tcPr/>
                </a:tc>
                <a:tc>
                  <a:txBody>
                    <a:bodyPr/>
                    <a:lstStyle/>
                    <a:p>
                      <a:r>
                        <a:rPr sz="1200">
                          <a:latin typeface="Times New Roman"/>
                        </a:rPr>
                        <a:t>Matches on image similarity alone; no ownership verification or use of text/location data. Future work: add multi-modal matching.</a:t>
                      </a: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sz="1200">
                          <a:latin typeface="Times New Roman"/>
                        </a:rPr>
                        <a:t>Ghazal et al. (2016)</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200">
                          <a:latin typeface="Times New Roman"/>
                        </a:rPr>
                        <a:t>Archival &amp; Retrieval of Lost Objects Using Multi-Feature Image Matching in Mobile Apps</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sz="1200">
                          <a:latin typeface="Times New Roman"/>
                        </a:rPr>
                        <a:t>Mobile app that filters candidates by text search and GPS, then matches images with SURF features and validates color using the L*a*b* space.</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sz="1200">
                          <a:latin typeface="Times New Roman"/>
                        </a:rPr>
                        <a:t>Achieved 95% accuracy, 100% precision, and 90% recall on a 40 lost vs. 50 found item test set.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sz="1200">
                          <a:latin typeface="Times New Roman"/>
                        </a:rPr>
                        <a:t>Tested on a small dataset only; claim confirmation still needs human review. Future work: scale to larger datasets.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sz="1200">
                          <a:latin typeface="Times New Roman"/>
                        </a:rPr>
                        <a:t>Wadbudhe et al. (2025)</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200">
                          <a:latin typeface="Times New Roman"/>
                        </a:rPr>
                        <a:t>UniFind: Lost &amp; Found Objects Management for Campus Using AI &amp; Cloud Services</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sz="1200">
                          <a:latin typeface="Times New Roman"/>
                        </a:rPr>
                        <a:t>Proposes a conceptual architecture combining Gemini multimodal AI for image understanding, NLP-based description matching, and Supabase cloud storage.</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sz="1200">
                          <a:latin typeface="Times New Roman"/>
                        </a:rPr>
                        <a:t>Outlines an integrated AI-plus-cloud blueprint for scalable, real-time smart-campus lost &amp; found systems.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sz="1200">
                          <a:latin typeface="Times New Roman"/>
                        </a:rPr>
                        <a:t>Conceptual design only, not yet built or tested on real data. Future work: implement and evaluate on live campus datasets.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31520" y="1874519"/>
            <a:ext cx="10698480" cy="4663440"/>
          </a:xfrm>
          <a:prstGeom prst="rect">
            <a:avLst/>
          </a:prstGeom>
          <a:noFill/>
        </p:spPr>
        <p:txBody>
          <a:bodyPr wrap="square">
            <a:spAutoFit/>
          </a:bodyPr>
          <a:lstStyle/>
          <a:p>
            <a:pPr>
              <a:spcBef>
                <a:spcPts val="0"/>
              </a:spcBef>
              <a:spcAft>
                <a:spcPts val="200"/>
              </a:spcAft>
            </a:pPr>
            <a:r>
              <a:rPr sz="2000" b="1">
                <a:solidFill>
                  <a:srgbClr val="C00000"/>
                </a:solidFill>
                <a:latin typeface="Times New Roman"/>
              </a:rPr>
              <a:t>What existing lost &amp; found portals miss</a:t>
            </a:r>
          </a:p>
          <a:p>
            <a:pPr>
              <a:spcAft>
                <a:spcPts val="1000"/>
              </a:spcAft>
            </a:pPr>
            <a:r>
              <a:rPr sz="1700" b="0">
                <a:solidFill>
                  <a:srgbClr val="1A1A1A"/>
                </a:solidFill>
                <a:latin typeface="Times New Roman"/>
              </a:rPr>
              <a:t>•  They rely on manual, static browsing instead of automatically matching items for the owner.</a:t>
            </a:r>
          </a:p>
          <a:p>
            <a:pPr>
              <a:spcAft>
                <a:spcPts val="1000"/>
              </a:spcAft>
            </a:pPr>
            <a:r>
              <a:rPr sz="1700" b="0">
                <a:solidFill>
                  <a:srgbClr val="1A1A1A"/>
                </a:solidFill>
                <a:latin typeface="Times New Roman"/>
              </a:rPr>
              <a:t>•  They show item photos publicly, so anyone can copy details and file a false claim.</a:t>
            </a:r>
          </a:p>
          <a:p>
            <a:pPr>
              <a:spcAft>
                <a:spcPts val="1000"/>
              </a:spcAft>
            </a:pPr>
            <a:r>
              <a:rPr sz="1700" b="0">
                <a:solidFill>
                  <a:srgbClr val="1A1A1A"/>
                </a:solidFill>
                <a:latin typeface="Times New Roman"/>
              </a:rPr>
              <a:t>•  They give no proactive alert — the owner only finds their item if they happen to keep checking.</a:t>
            </a:r>
          </a:p>
          <a:p>
            <a:pPr>
              <a:spcAft>
                <a:spcPts val="1000"/>
              </a:spcAft>
            </a:pPr>
            <a:r>
              <a:rPr sz="1700" b="0">
                <a:solidFill>
                  <a:srgbClr val="1A1A1A"/>
                </a:solidFill>
                <a:latin typeface="Times New Roman"/>
              </a:rPr>
              <a:t>•  They have no way to confirm that the person claiming an item is its real owner.</a:t>
            </a:r>
          </a:p>
          <a:p>
            <a:pPr>
              <a:spcBef>
                <a:spcPts val="1000"/>
              </a:spcBef>
              <a:spcAft>
                <a:spcPts val="200"/>
              </a:spcAft>
            </a:pPr>
            <a:r>
              <a:rPr sz="2000" b="1">
                <a:solidFill>
                  <a:srgbClr val="C00000"/>
                </a:solidFill>
                <a:latin typeface="Times New Roman"/>
              </a:rPr>
              <a:t>How FindEase closes these gaps</a:t>
            </a:r>
          </a:p>
          <a:p>
            <a:pPr>
              <a:spcAft>
                <a:spcPts val="1000"/>
              </a:spcAft>
            </a:pPr>
            <a:r>
              <a:rPr sz="1700" b="0">
                <a:solidFill>
                  <a:srgbClr val="1A1A1A"/>
                </a:solidFill>
                <a:latin typeface="Times New Roman"/>
              </a:rPr>
              <a:t>FindEase adds AI-based matching, hides private item details for secret-question verification, and sends instant alerts — so owners are found faster and false claims are much harder to make.</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31520" y="2148840"/>
            <a:ext cx="10698480" cy="4023360"/>
          </a:xfrm>
          <a:prstGeom prst="rect">
            <a:avLst/>
          </a:prstGeom>
          <a:noFill/>
        </p:spPr>
        <p:txBody>
          <a:bodyPr wrap="square">
            <a:spAutoFit/>
          </a:bodyPr>
          <a:lstStyle/>
          <a:p>
            <a:pPr>
              <a:spcBef>
                <a:spcPts val="0"/>
              </a:spcBef>
              <a:spcAft>
                <a:spcPts val="200"/>
              </a:spcAft>
            </a:pPr>
            <a:r>
              <a:rPr sz="2000" b="1">
                <a:solidFill>
                  <a:srgbClr val="C00000"/>
                </a:solidFill>
                <a:latin typeface="Times New Roman"/>
              </a:rPr>
              <a:t>Secret-Question Verification</a:t>
            </a:r>
          </a:p>
          <a:p>
            <a:pPr>
              <a:spcAft>
                <a:spcPts val="1000"/>
              </a:spcAft>
            </a:pPr>
            <a:r>
              <a:rPr sz="1700" b="0">
                <a:solidFill>
                  <a:srgbClr val="1A1A1A"/>
                </a:solidFill>
                <a:latin typeface="Times New Roman"/>
              </a:rPr>
              <a:t>Hides key item details and lets an AI create special questions that only the true owner can answer (like what's inside a wallet or a lock-screen photo).</a:t>
            </a:r>
          </a:p>
          <a:p>
            <a:pPr>
              <a:spcBef>
                <a:spcPts val="1000"/>
              </a:spcBef>
              <a:spcAft>
                <a:spcPts val="200"/>
              </a:spcAft>
            </a:pPr>
            <a:r>
              <a:rPr sz="2000" b="1">
                <a:solidFill>
                  <a:srgbClr val="C00000"/>
                </a:solidFill>
                <a:latin typeface="Times New Roman"/>
              </a:rPr>
              <a:t>Instant In-App Alerts</a:t>
            </a:r>
          </a:p>
          <a:p>
            <a:pPr>
              <a:spcAft>
                <a:spcPts val="1000"/>
              </a:spcAft>
            </a:pPr>
            <a:r>
              <a:rPr sz="1700" b="0">
                <a:solidFill>
                  <a:srgbClr val="1A1A1A"/>
                </a:solidFill>
                <a:latin typeface="Times New Roman"/>
              </a:rPr>
              <a:t>Owners never have to search. The moment a good match is found, the app sends them a notification automatically.</a:t>
            </a:r>
          </a:p>
          <a:p>
            <a:pPr>
              <a:spcBef>
                <a:spcPts val="1000"/>
              </a:spcBef>
              <a:spcAft>
                <a:spcPts val="200"/>
              </a:spcAft>
            </a:pPr>
            <a:r>
              <a:rPr sz="2000" b="1">
                <a:solidFill>
                  <a:srgbClr val="C00000"/>
                </a:solidFill>
                <a:latin typeface="Times New Roman"/>
              </a:rPr>
              <a:t>Smart Matching Engine</a:t>
            </a:r>
          </a:p>
          <a:p>
            <a:pPr>
              <a:spcAft>
                <a:spcPts val="1000"/>
              </a:spcAft>
            </a:pPr>
            <a:r>
              <a:rPr sz="1700" b="0">
                <a:solidFill>
                  <a:srgbClr val="1A1A1A"/>
                </a:solidFill>
                <a:latin typeface="Times New Roman"/>
              </a:rPr>
              <a:t>Combines photos, item descriptions, and location/time data to find the best possible match.</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31520" y="2103120"/>
            <a:ext cx="10698480" cy="1463040"/>
          </a:xfrm>
          <a:prstGeom prst="rect">
            <a:avLst/>
          </a:prstGeom>
          <a:noFill/>
        </p:spPr>
        <p:txBody>
          <a:bodyPr wrap="square">
            <a:spAutoFit/>
          </a:bodyPr>
          <a:lstStyle/>
          <a:p>
            <a:pPr>
              <a:spcBef>
                <a:spcPts val="0"/>
              </a:spcBef>
              <a:spcAft>
                <a:spcPts val="200"/>
              </a:spcAft>
            </a:pPr>
            <a:r>
              <a:rPr sz="1800" b="1">
                <a:solidFill>
                  <a:srgbClr val="C00000"/>
                </a:solidFill>
                <a:latin typeface="Times New Roman"/>
              </a:rPr>
              <a:t>Feasibility</a:t>
            </a:r>
          </a:p>
          <a:p>
            <a:pPr>
              <a:spcAft>
                <a:spcPts val="1000"/>
              </a:spcAft>
            </a:pPr>
            <a:r>
              <a:rPr sz="1600" b="0">
                <a:solidFill>
                  <a:srgbClr val="1A1A1A"/>
                </a:solidFill>
                <a:latin typeface="Times New Roman"/>
              </a:rPr>
              <a:t>Built with widely-used, well-supported tools — React.js and Tailwind CSS for the frontend, Spring Boot for the backend, MySQL and ChromaDB for storage, and Python AI services for photo and text matching. All pieces are proven technologies that a small student team can realistically build and test within the project timeline.</a:t>
            </a:r>
          </a:p>
          <a:p>
            <a:pPr>
              <a:spcBef>
                <a:spcPts val="1000"/>
              </a:spcBef>
              <a:spcAft>
                <a:spcPts val="200"/>
              </a:spcAft>
            </a:pPr>
            <a:endParaRPr sz="1600" b="0">
              <a:solidFill>
                <a:srgbClr val="1A1A1A"/>
              </a:solidFill>
              <a:latin typeface="Times New Roman"/>
            </a:endParaRPr>
          </a:p>
        </p:txBody>
      </p:sp>
      <p:graphicFrame>
        <p:nvGraphicFramePr>
          <p:cNvPr id="7" name="Table 6"/>
          <p:cNvGraphicFramePr>
            <a:graphicFrameLocks noGrp="1"/>
          </p:cNvGraphicFramePr>
          <p:nvPr/>
        </p:nvGraphicFramePr>
        <p:xfrm>
          <a:off x="731520" y="3794760"/>
          <a:ext cx="10698480" cy="22860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71500">
                <a:tc>
                  <a:txBody>
                    <a:bodyPr/>
                    <a:lstStyle/>
                    <a:p>
                      <a:r>
                        <a:rPr sz="1500" b="1">
                          <a:solidFill>
                            <a:srgbClr val="FFFFFF"/>
                          </a:solidFill>
                          <a:latin typeface="Times New Roman"/>
                        </a:rPr>
                        <a:t>Phase</a:t>
                      </a:r>
                    </a:p>
                  </a:txBody>
                  <a:tcPr>
                    <a:solidFill>
                      <a:srgbClr val="C00000"/>
                    </a:solidFill>
                  </a:tcPr>
                </a:tc>
                <a:tc>
                  <a:txBody>
                    <a:bodyPr/>
                    <a:lstStyle/>
                    <a:p>
                      <a:r>
                        <a:rPr sz="1500" b="1">
                          <a:solidFill>
                            <a:srgbClr val="FFFFFF"/>
                          </a:solidFill>
                          <a:latin typeface="Times New Roman"/>
                        </a:rPr>
                        <a:t>Focus</a:t>
                      </a:r>
                    </a:p>
                  </a:txBody>
                  <a:tcPr>
                    <a:solidFill>
                      <a:srgbClr val="C00000"/>
                    </a:solidFill>
                  </a:tcPr>
                </a:tc>
                <a:tc>
                  <a:txBody>
                    <a:bodyPr/>
                    <a:lstStyle/>
                    <a:p>
                      <a:r>
                        <a:rPr sz="1500" b="1">
                          <a:solidFill>
                            <a:srgbClr val="FFFFFF"/>
                          </a:solidFill>
                          <a:latin typeface="Times New Roman"/>
                        </a:rPr>
                        <a:t>Duration</a:t>
                      </a:r>
                    </a:p>
                  </a:txBody>
                  <a:tcPr>
                    <a:solidFill>
                      <a:srgbClr val="C00000"/>
                    </a:solidFill>
                  </a:tcPr>
                </a:tc>
                <a:extLst>
                  <a:ext uri="{0D108BD9-81ED-4DB2-BD59-A6C34878D82A}">
                    <a16:rowId xmlns:a16="http://schemas.microsoft.com/office/drawing/2014/main" val="10000"/>
                  </a:ext>
                </a:extLst>
              </a:tr>
              <a:tr h="571500">
                <a:tc>
                  <a:txBody>
                    <a:bodyPr/>
                    <a:lstStyle/>
                    <a:p>
                      <a:r>
                        <a:rPr sz="1350" b="0">
                          <a:solidFill>
                            <a:srgbClr val="1A1A1A"/>
                          </a:solidFill>
                          <a:latin typeface="Times New Roman"/>
                        </a:rPr>
                        <a:t>Planning &amp; Design</a:t>
                      </a:r>
                    </a:p>
                  </a:txBody>
                  <a:tcPr/>
                </a:tc>
                <a:tc>
                  <a:txBody>
                    <a:bodyPr/>
                    <a:lstStyle/>
                    <a:p>
                      <a:r>
                        <a:rPr sz="1350" b="0">
                          <a:solidFill>
                            <a:srgbClr val="1A1A1A"/>
                          </a:solidFill>
                          <a:latin typeface="Times New Roman"/>
                        </a:rPr>
                        <a:t>Requirement analysis, SOA design, architecture diagrams</a:t>
                      </a:r>
                    </a:p>
                  </a:txBody>
                  <a:tcPr/>
                </a:tc>
                <a:tc>
                  <a:txBody>
                    <a:bodyPr/>
                    <a:lstStyle/>
                    <a:p>
                      <a:r>
                        <a:rPr sz="1350" b="0">
                          <a:solidFill>
                            <a:srgbClr val="1A1A1A"/>
                          </a:solidFill>
                          <a:latin typeface="Times New Roman"/>
                        </a:rPr>
                        <a:t>Days 1–15</a:t>
                      </a:r>
                    </a:p>
                  </a:txBody>
                  <a:tcPr/>
                </a:tc>
                <a:extLst>
                  <a:ext uri="{0D108BD9-81ED-4DB2-BD59-A6C34878D82A}">
                    <a16:rowId xmlns:a16="http://schemas.microsoft.com/office/drawing/2014/main" val="10001"/>
                  </a:ext>
                </a:extLst>
              </a:tr>
              <a:tr h="571500">
                <a:tc>
                  <a:txBody>
                    <a:bodyPr/>
                    <a:lstStyle/>
                    <a:p>
                      <a:r>
                        <a:rPr sz="1350" b="0">
                          <a:solidFill>
                            <a:srgbClr val="1A1A1A"/>
                          </a:solidFill>
                          <a:latin typeface="Times New Roman"/>
                        </a:rPr>
                        <a:t>Building &amp; Testing</a:t>
                      </a:r>
                    </a:p>
                  </a:txBody>
                  <a:tcPr/>
                </a:tc>
                <a:tc>
                  <a:txBody>
                    <a:bodyPr/>
                    <a:lstStyle/>
                    <a:p>
                      <a:r>
                        <a:rPr sz="1350" b="0">
                          <a:solidFill>
                            <a:srgbClr val="1A1A1A"/>
                          </a:solidFill>
                          <a:latin typeface="Times New Roman"/>
                        </a:rPr>
                        <a:t>Spring Boot backend, React frontend, AI matching service, unit tests</a:t>
                      </a:r>
                    </a:p>
                  </a:txBody>
                  <a:tcPr/>
                </a:tc>
                <a:tc>
                  <a:txBody>
                    <a:bodyPr/>
                    <a:lstStyle/>
                    <a:p>
                      <a:r>
                        <a:rPr sz="1350" b="0">
                          <a:solidFill>
                            <a:srgbClr val="1A1A1A"/>
                          </a:solidFill>
                          <a:latin typeface="Times New Roman"/>
                        </a:rPr>
                        <a:t>Days 16–30</a:t>
                      </a:r>
                    </a:p>
                  </a:txBody>
                  <a:tcPr/>
                </a:tc>
                <a:extLst>
                  <a:ext uri="{0D108BD9-81ED-4DB2-BD59-A6C34878D82A}">
                    <a16:rowId xmlns:a16="http://schemas.microsoft.com/office/drawing/2014/main" val="10002"/>
                  </a:ext>
                </a:extLst>
              </a:tr>
              <a:tr h="571500">
                <a:tc>
                  <a:txBody>
                    <a:bodyPr/>
                    <a:lstStyle/>
                    <a:p>
                      <a:r>
                        <a:rPr sz="1350" b="0">
                          <a:solidFill>
                            <a:srgbClr val="1A1A1A"/>
                          </a:solidFill>
                          <a:latin typeface="Times New Roman"/>
                        </a:rPr>
                        <a:t>Quality &amp; Launch</a:t>
                      </a:r>
                    </a:p>
                  </a:txBody>
                  <a:tcPr/>
                </a:tc>
                <a:tc>
                  <a:txBody>
                    <a:bodyPr/>
                    <a:lstStyle/>
                    <a:p>
                      <a:r>
                        <a:rPr sz="1350" b="0">
                          <a:solidFill>
                            <a:srgbClr val="1A1A1A"/>
                          </a:solidFill>
                          <a:latin typeface="Times New Roman"/>
                        </a:rPr>
                        <a:t>Security scans, CI/CD setup, final milestone evaluation</a:t>
                      </a:r>
                    </a:p>
                  </a:txBody>
                  <a:tcPr/>
                </a:tc>
                <a:tc>
                  <a:txBody>
                    <a:bodyPr/>
                    <a:lstStyle/>
                    <a:p>
                      <a:r>
                        <a:rPr sz="1350" b="0">
                          <a:solidFill>
                            <a:srgbClr val="1A1A1A"/>
                          </a:solidFill>
                          <a:latin typeface="Times New Roman"/>
                        </a:rPr>
                        <a:t>Days 31–45</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845</Words>
  <Application>Microsoft Office PowerPoint</Application>
  <PresentationFormat>Widescreen</PresentationFormat>
  <Paragraphs>109</Paragraphs>
  <Slides>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saswithasheri@gmail.com</cp:lastModifiedBy>
  <cp:revision>33</cp:revision>
  <dcterms:created xsi:type="dcterms:W3CDTF">2026-08-08T06:33:56Z</dcterms:created>
  <dcterms:modified xsi:type="dcterms:W3CDTF">2026-08-18T09:19:10Z</dcterms:modified>
</cp:coreProperties>
</file>